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45720" cy="2926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800" b="1" spc="5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Lingxi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智能个性化学习辅助系统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697480"/>
            <a:ext cx="2286000" cy="228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多智能体协同  |  前沿AI技术融合  |  全场景学习赋能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338328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788C5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83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 安全加固版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38404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8404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Python/Flask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38404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8404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23360" y="38404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38404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原生JS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0" y="38404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8404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49440" y="38404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8404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 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1490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产品定位与核心价值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560320" cy="3657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01568" y="1161288"/>
            <a:ext cx="384048" cy="384048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58768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58768" y="1490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技术栈与整体设计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2240280"/>
            <a:ext cx="2560320" cy="36576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1161288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3408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AI技术融合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93408" y="1490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多模型协同与创新应用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40280"/>
            <a:ext cx="2560320" cy="3657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3081528"/>
            <a:ext cx="384048" cy="384048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3081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24128" y="3410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八大功能模块详解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2560320" cy="36576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01568" y="3081528"/>
            <a:ext cx="384048" cy="384048"/>
          </a:xfrm>
          <a:prstGeom prst="ellipse">
            <a:avLst/>
          </a:prstGeom>
          <a:solidFill>
            <a:srgbClr val="89CFF0"/>
          </a:solidFill>
          <a:ln/>
        </p:spPr>
      </p:sp>
      <p:sp>
        <p:nvSpPr>
          <p:cNvPr id="35" name="Text 33"/>
          <p:cNvSpPr/>
          <p:nvPr/>
        </p:nvSpPr>
        <p:spPr>
          <a:xfrm>
            <a:off x="3401568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58768" y="3081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产品展示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858768" y="3410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界面截图与交互体验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4160520"/>
            <a:ext cx="2560320" cy="365760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9718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3081528"/>
            <a:ext cx="384048" cy="384048"/>
          </a:xfrm>
          <a:prstGeom prst="ellipse">
            <a:avLst/>
          </a:prstGeom>
          <a:solidFill>
            <a:srgbClr val="C9918A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93408" y="3081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安全与工程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693408" y="3410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安全机制与工程质量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4160520"/>
            <a:ext cx="2560320" cy="365760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2/25</a:t>
            </a:r>
            <a:endParaRPr lang="en-US" sz="7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6A9BCC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2286000" cy="228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产品定位 · 核心价值 · 目标用户 · 创新亮点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828800" cy="18288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产品定位与核心价值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基于科大讯飞星火大模型与多模态视觉理解技术构建的高颜值、全功能、智能个性化学习辅助平台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4864" cy="347472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多智能体协同：三Agent流水线自动生成学习方案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4864" cy="347472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三模型解题群：讯飞星火+混元Turbo+Qwen3并发对比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4864" cy="34747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个性化画像：六维雷达图精准分析学习能力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4864" cy="347472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69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全栈自主开发：前后端+AI集成一站式实现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AI大模型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00584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051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API端点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945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20K+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6344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前端代码行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219456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2240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58000" y="2697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课程学科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3832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66344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预置习题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33832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858000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安全机制</a:t>
            </a:r>
            <a:endParaRPr lang="en-US" sz="10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目标用户与创新价值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6A9BC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527048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高校学生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理工科课程学习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课后复习巩固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01568" y="1527048"/>
            <a:ext cx="411480" cy="41148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自学者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编程入门、算法学习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AI辅助答疑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527048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代码纠错、文档诊断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在线编程练习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创新价值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3558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A9BC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291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多智能体协同学习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3566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首创三Agent流水线，自动生成完整学习方案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24612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3558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9B8EC4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3291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三模型并发解题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3566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星火/混元Turbo/Qwen3同时答题，多角度对比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1788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97757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" y="4114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六维能力画像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" y="4389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雷达图精准定位学习薄弱点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406908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1788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788C5D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178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30368" y="4114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全栈AI原生开发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30368" y="4389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20K行前端+5K行后端，零第三方AI平台依赖</a:t>
            </a:r>
            <a:endParaRPr lang="en-US" sz="85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9B8EC4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2286000" cy="228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技术栈选型 · 架构总览 · 前后端设计 · 数据流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828800" cy="182880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技术栈全景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7/25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115568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1554480" cy="18288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3.8+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框架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SQLite3 数据库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Flask-CORS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WebSocket-Client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0058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70048" y="1115568"/>
            <a:ext cx="411480" cy="41148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14" name="Text 12"/>
          <p:cNvSpPr/>
          <p:nvPr/>
        </p:nvSpPr>
        <p:spPr>
          <a:xfrm>
            <a:off x="267004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1965960"/>
            <a:ext cx="1554480" cy="18288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0574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单HTML SPA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原生 JavaScript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 动画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MathJax 公式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Marked.js 渲染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3168" y="1115568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AI引擎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965960"/>
            <a:ext cx="1554480" cy="182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0574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讯飞星火 Pro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混元 Turbo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Qwen3-1.7B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OpenAI兼容接口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+ WebSocket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005840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76288" y="1115568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6" name="Text 24"/>
          <p:cNvSpPr/>
          <p:nvPr/>
        </p:nvSpPr>
        <p:spPr>
          <a:xfrm>
            <a:off x="687628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49440" y="1965960"/>
            <a:ext cx="1554480" cy="18288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2057400"/>
            <a:ext cx="155448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Serverless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-&gt; Functions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CDN 加速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SMTP 邮件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JDoodle 沙箱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全栈自主实现：前端20,000+行单文件SPA + 后端4,900+行Flask应用，零外部AI平台依赖</a:t>
            </a:r>
            <a:endParaRPr lang="en-US" sz="85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系统架构总览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8/25</a:t>
            </a:r>
            <a:endParaRPr lang="en-US" sz="700" dirty="0"/>
          </a:p>
        </p:txBody>
      </p:sp>
      <p:pic>
        <p:nvPicPr>
          <p:cNvPr id="5" name="Image 0" descr="ppt_assets/architecture_1800x1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7680960" cy="4480560"/>
          </a:xfrm>
          <a:prstGeom prst="rect">
            <a:avLst/>
          </a:prstGeom>
        </p:spPr>
      </p:pic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69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单文件SPA架构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 行原生 JavaScript，零框架依赖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switchMainPage() 路由切换 12 个页面视图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全局状态管理：localStorage + 全局变量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MathJax 实时渲染 LaTeX 数学公式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Marked.js Markdown 解析与高亮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768px 以下移动端自适应布局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 动画与过渡效果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118872" cy="118872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防抖/节流机制保障性能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960120"/>
            <a:ext cx="54864" cy="5943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005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12527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登录/注册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66560" y="96012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960120"/>
            <a:ext cx="54864" cy="5943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005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12527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AI对话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178308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1783080"/>
            <a:ext cx="54864" cy="59436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B8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groupChat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20756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解题群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66560" y="178308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66560" y="1783080"/>
            <a:ext cx="54864" cy="59436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courseStudy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20756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课程学习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2606040"/>
            <a:ext cx="54864" cy="594360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2651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9C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questionBank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28986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题库练习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66560" y="260604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2606040"/>
            <a:ext cx="54864" cy="59436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2651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03720" y="28986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排行榜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0" y="342900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3429000"/>
            <a:ext cx="54864" cy="594360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474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99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adminPanel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09160" y="37216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管理后台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66560" y="342900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66560" y="3429000"/>
            <a:ext cx="54864" cy="594360"/>
          </a:xfrm>
          <a:prstGeom prst="rect">
            <a:avLst/>
          </a:prstGeom>
          <a:solidFill>
            <a:srgbClr val="B0AEA5"/>
          </a:solidFill>
          <a:ln/>
        </p:spPr>
      </p:sp>
      <p:sp>
        <p:nvSpPr>
          <p:cNvPr id="54" name="Text 52"/>
          <p:cNvSpPr/>
          <p:nvPr/>
        </p:nvSpPr>
        <p:spPr>
          <a:xfrm>
            <a:off x="6903720" y="34747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03720" y="37216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个人设置</a:t>
            </a:r>
            <a:endParaRPr lang="en-US" sz="850" dirty="0"/>
          </a:p>
        </p:txBody>
      </p:sp>
      <p:sp>
        <p:nvSpPr>
          <p:cNvPr id="5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D9775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AI技术融合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TECHNOLOGY INTEGRATION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2286000" cy="228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多模型协同 · 三Agent流水线 · AI解题群 · 能力画像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828800" cy="18288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AI模型能力矩阵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11/25</a:t>
            </a:r>
            <a:endParaRPr lang="en-US" sz="700" dirty="0"/>
          </a:p>
        </p:txBody>
      </p:sp>
      <p:pic>
        <p:nvPicPr>
          <p:cNvPr id="6" name="Image 0" descr="ppt_assets/ai_radar_1050x1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41148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77724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0" y="777240"/>
            <a:ext cx="54864" cy="109728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9" name="Text 6"/>
          <p:cNvSpPr/>
          <p:nvPr/>
        </p:nvSpPr>
        <p:spPr>
          <a:xfrm>
            <a:off x="4736592" y="832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讯飞星火 Pro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36592" y="1033272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科大讯飞 | generalv3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736592" y="12161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核心对话引擎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OpenAI兼容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128K长上下文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流式SSE支持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0" y="210312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103120"/>
            <a:ext cx="54864" cy="1097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1"/>
          <p:cNvSpPr/>
          <p:nvPr/>
        </p:nvSpPr>
        <p:spPr>
          <a:xfrm>
            <a:off x="4736592" y="21579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混元 Turbo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36592" y="2359152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腾讯/讯飞MaaS | xophunyuan7bmt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736592" y="25420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翻译+解题智能体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多轮历史上下文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快速响应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Hy-MT2-7B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572000" y="342900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3429000"/>
            <a:ext cx="54864" cy="109728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Text 16"/>
          <p:cNvSpPr/>
          <p:nvPr/>
        </p:nvSpPr>
        <p:spPr>
          <a:xfrm>
            <a:off x="4736592" y="34838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Qwen3-1.7B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36592" y="3685032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阿里/讯飞MaaS | xop3qwen1b7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736592" y="38679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解题群智能体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超低延迟0.74s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轻量高效</a:t>
            </a:r>
            <a:endParaRPr lang="en-US" sz="7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对话+代码</a:t>
            </a:r>
            <a:endParaRPr lang="en-US" sz="75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多智能体协同流水线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12/25</a:t>
            </a:r>
            <a:endParaRPr lang="en-US" sz="700" dirty="0"/>
          </a:p>
        </p:txBody>
      </p:sp>
      <p:pic>
        <p:nvPicPr>
          <p:cNvPr id="5" name="Image 0" descr="ppt_assets/pipeline_18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02920"/>
            <a:ext cx="8558784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16052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160520"/>
            <a:ext cx="2560320" cy="4572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学习分析师 SearcherAgent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66928" y="4507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关键词提取、知识检索、难度评估、核心知识点识别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91840" y="416052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4160520"/>
            <a:ext cx="256032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9"/>
          <p:cNvSpPr/>
          <p:nvPr/>
        </p:nvSpPr>
        <p:spPr>
          <a:xfrm>
            <a:off x="3401568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资源生成师 ResourceAgent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01568" y="4507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章节关联、题库匹配、B站视频搜索、知识卡片与代码案例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126480" y="416052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4160520"/>
            <a:ext cx="256032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3"/>
          <p:cNvSpPr/>
          <p:nvPr/>
        </p:nvSpPr>
        <p:spPr>
          <a:xfrm>
            <a:off x="6236208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路径规划师 PathAgent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36208" y="4507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学习路径生成、阶段划分、进度建议、个性化调整</a:t>
            </a:r>
            <a:endParaRPr lang="en-US" sz="75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AI解题群与性能基准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13/25</a:t>
            </a:r>
            <a:endParaRPr lang="en-US" sz="700" dirty="0"/>
          </a:p>
        </p:txBody>
      </p:sp>
      <p:pic>
        <p:nvPicPr>
          <p:cNvPr id="6" name="Image 0" descr="ppt_assets/benchmark_1350x6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02920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9144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AI解题群机制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1389888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344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三模型并发调用 (ThreadPoolExecutor)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0" y="1700784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6550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讯飞星火 Pro: 4.65s 综合最强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0" y="2011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0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混元Turbo: 5.20s 翻译能力突出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2322576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2276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Qwen3-1.7B: 0.74s 极速响应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0" y="2633472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2587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对比分析：同一问题多角度解答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69280" y="2944368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2898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/api/group_chat 统一接口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Qwen3-1.7B凭借极致轻量化实现亚秒级响应，适合高频简单问答场景；星火Pro在复杂推理中表现最优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" y="4023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调用链路:  前端 groupChat()  --&gt;  POST /api/group_chat  --&gt;  ThreadPoolExecutor(max_workers=3)  --&gt;  call_spark_http() + call_qianwen() + call_translate()  --&gt;  聚合返回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94360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前端使用 SSE 流式输出，对话体验流畅自然</a:t>
            </a:r>
            <a:endParaRPr lang="en-US" sz="85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个性化能力画像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14/25</a:t>
            </a:r>
            <a:endParaRPr lang="en-US" sz="700" dirty="0"/>
          </a:p>
        </p:txBody>
      </p:sp>
      <p:pic>
        <p:nvPicPr>
          <p:cNvPr id="6" name="Image 0" descr="ppt_assets/profile_9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36576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914400"/>
            <a:ext cx="43891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0" y="1024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六维能力画像体系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417320"/>
            <a:ext cx="45720" cy="384048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0" name="Text 7"/>
          <p:cNvSpPr/>
          <p:nvPr/>
        </p:nvSpPr>
        <p:spPr>
          <a:xfrm>
            <a:off x="4736592" y="1389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知识掌握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36592" y="1600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课程习题正确率、章节完成度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892808"/>
            <a:ext cx="45720" cy="384048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13" name="Text 10"/>
          <p:cNvSpPr/>
          <p:nvPr/>
        </p:nvSpPr>
        <p:spPr>
          <a:xfrm>
            <a:off x="4736592" y="18653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认知能力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36592" y="20756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问题复杂度分析、概念理解深度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0" y="2368296"/>
            <a:ext cx="45720" cy="38404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3"/>
          <p:cNvSpPr/>
          <p:nvPr/>
        </p:nvSpPr>
        <p:spPr>
          <a:xfrm>
            <a:off x="4736592" y="23408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纠错能力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36592" y="2551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代码纠错通过率、错误识别准确度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0" y="2843784"/>
            <a:ext cx="45720" cy="384048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Text 16"/>
          <p:cNvSpPr/>
          <p:nvPr/>
        </p:nvSpPr>
        <p:spPr>
          <a:xfrm>
            <a:off x="4736592" y="2816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兴趣活跃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36592" y="30266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学习频率、交互活跃度、探索广度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0" y="3319272"/>
            <a:ext cx="45720" cy="384048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22" name="Text 19"/>
          <p:cNvSpPr/>
          <p:nvPr/>
        </p:nvSpPr>
        <p:spPr>
          <a:xfrm>
            <a:off x="4736592" y="32918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目标完成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36592" y="35021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学习计划达成率、任务完成度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0" y="3794760"/>
            <a:ext cx="45720" cy="384048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25" name="Text 22"/>
          <p:cNvSpPr/>
          <p:nvPr/>
        </p:nvSpPr>
        <p:spPr>
          <a:xfrm>
            <a:off x="4736592" y="37673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学习习惯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36592" y="3977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学习时长规律性、连续学习天数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画像数据通过 /api/extract_profile 实时更新，结合学习时长和做题记录进行动态调整</a:t>
            </a:r>
            <a:endParaRPr lang="en-US" sz="8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788C5D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2286000" cy="228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八大功能模块 · 智能对话 · 课程学习 · 代码实战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828800" cy="182880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核心功能完善度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16/25</a:t>
            </a:r>
            <a:endParaRPr lang="en-US" sz="700" dirty="0"/>
          </a:p>
        </p:txBody>
      </p:sp>
      <p:pic>
        <p:nvPicPr>
          <p:cNvPr id="6" name="Image 0" descr="ppt_assets/comparison_15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8229600" cy="4114800"/>
          </a:xfrm>
          <a:prstGeom prst="rect">
            <a:avLst/>
          </a:prstGeom>
        </p:spPr>
      </p:pic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特色功能详解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17/25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115568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代码纠错与在线运行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3657600" cy="13716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支持 Python/C++/Java/JS/HTML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AI深度语法检测与逻辑分析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左右分栏对比显示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本地沙箱+JDoodle降级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115568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动态思维导图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3168" y="1508760"/>
            <a:ext cx="3657600" cy="13716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自适应课程脑图生成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智能杂音过滤算法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空分支自动隐藏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可视化知识结构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081528"/>
            <a:ext cx="411480" cy="41148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自主出题测试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474720"/>
            <a:ext cx="3657600" cy="13716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自定义主题/题量/难度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AI自动生成选择题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智能错题本记录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Markdown+MathJax渲染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3081528"/>
            <a:ext cx="411480" cy="41148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文档智能诊断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73168" y="3474720"/>
            <a:ext cx="3657600" cy="13716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PDF/Word/MD/Excel多格式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自动文本提取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AI深度内容诊断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学习建议生成</a:t>
            </a:r>
            <a:endParaRPr lang="en-US" sz="95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89CFF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产品展示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SHOWCASE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2286000" cy="228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界面截图 · 交互体验 · 功能演示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828800" cy="1828800"/>
          </a:xfrm>
          <a:prstGeom prst="ellipse">
            <a:avLst/>
          </a:prstGeom>
          <a:solidFill>
            <a:srgbClr val="89CFF0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界面展示：智能对话 &amp; 课程中心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19/25</a:t>
            </a:r>
            <a:endParaRPr lang="en-US" sz="700" dirty="0"/>
          </a:p>
        </p:txBody>
      </p:sp>
      <p:pic>
        <p:nvPicPr>
          <p:cNvPr id="5" name="Image 0" descr="ppt_assets/ui_chat_15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" y="594360"/>
            <a:ext cx="4267200" cy="2560320"/>
          </a:xfrm>
          <a:prstGeom prst="rect">
            <a:avLst/>
          </a:prstGeom>
        </p:spPr>
      </p:pic>
      <p:pic>
        <p:nvPicPr>
          <p:cNvPr id="6" name="Image 1" descr="ppt_assets/ui_course_1500x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80" y="594360"/>
            <a:ext cx="426720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324612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6A9BCC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3246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全体协同 - 多智能体对话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754880" y="324612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9B8EC4"/>
          </a:solidFill>
          <a:ln/>
        </p:spPr>
      </p:sp>
      <p:sp>
        <p:nvSpPr>
          <p:cNvPr id="10" name="Text 6"/>
          <p:cNvSpPr/>
          <p:nvPr/>
        </p:nvSpPr>
        <p:spPr>
          <a:xfrm>
            <a:off x="4754880" y="3246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课程中心 - 章节学习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57200" y="3611880"/>
            <a:ext cx="8229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0080" y="3685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交互设计亮点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89CFF0"/>
          </a:solidFill>
          <a:ln/>
        </p:spPr>
      </p:sp>
      <p:sp>
        <p:nvSpPr>
          <p:cNvPr id="14" name="Text 10"/>
          <p:cNvSpPr/>
          <p:nvPr/>
        </p:nvSpPr>
        <p:spPr>
          <a:xfrm>
            <a:off x="841248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深色侧边栏 + 浅色内容区，视觉层次分明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0" y="4023360"/>
            <a:ext cx="91440" cy="91440"/>
          </a:xfrm>
          <a:prstGeom prst="ellipse">
            <a:avLst/>
          </a:prstGeom>
          <a:solidFill>
            <a:srgbClr val="89CFF0"/>
          </a:solidFill>
          <a:ln/>
        </p:spPr>
      </p:sp>
      <p:sp>
        <p:nvSpPr>
          <p:cNvPr id="16" name="Text 12"/>
          <p:cNvSpPr/>
          <p:nvPr/>
        </p:nvSpPr>
        <p:spPr>
          <a:xfrm>
            <a:off x="4956048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智能体工作流卡片可视化，协同过程一目了然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40080" y="4370832"/>
            <a:ext cx="91440" cy="91440"/>
          </a:xfrm>
          <a:prstGeom prst="ellipse">
            <a:avLst/>
          </a:prstGeom>
          <a:solidFill>
            <a:srgbClr val="89CFF0"/>
          </a:solidFill>
          <a:ln/>
        </p:spPr>
      </p:sp>
      <p:sp>
        <p:nvSpPr>
          <p:cNvPr id="18" name="Text 14"/>
          <p:cNvSpPr/>
          <p:nvPr/>
        </p:nvSpPr>
        <p:spPr>
          <a:xfrm>
            <a:off x="841248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实时流式输出(SSE)，对话体验流畅自然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754880" y="4370832"/>
            <a:ext cx="91440" cy="91440"/>
          </a:xfrm>
          <a:prstGeom prst="ellipse">
            <a:avLst/>
          </a:prstGeom>
          <a:solidFill>
            <a:srgbClr val="89CFF0"/>
          </a:solidFill>
          <a:ln/>
        </p:spPr>
      </p:sp>
      <p:sp>
        <p:nvSpPr>
          <p:cNvPr id="20" name="Text 16"/>
          <p:cNvSpPr/>
          <p:nvPr/>
        </p:nvSpPr>
        <p:spPr>
          <a:xfrm>
            <a:off x="4956048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章节进度条可视化，学习状态清晰可追踪</a:t>
            </a:r>
            <a:endParaRPr lang="en-US" sz="85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界面展示：AI解题群 &amp; 代码纠错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20/25</a:t>
            </a:r>
            <a:endParaRPr lang="en-US" sz="700" dirty="0"/>
          </a:p>
        </p:txBody>
      </p:sp>
      <p:pic>
        <p:nvPicPr>
          <p:cNvPr id="5" name="Image 0" descr="ppt_assets/ui_group_15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" y="594360"/>
            <a:ext cx="4267200" cy="2560320"/>
          </a:xfrm>
          <a:prstGeom prst="rect">
            <a:avLst/>
          </a:prstGeom>
        </p:spPr>
      </p:pic>
      <p:pic>
        <p:nvPicPr>
          <p:cNvPr id="6" name="Image 1" descr="ppt_assets/ui_code_1500x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680" y="594360"/>
            <a:ext cx="426720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324612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9B8EC4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3246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AI解题群 - 三模型并发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754880" y="324612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788C5D"/>
          </a:solidFill>
          <a:ln/>
        </p:spPr>
      </p:sp>
      <p:sp>
        <p:nvSpPr>
          <p:cNvPr id="10" name="Text 6"/>
          <p:cNvSpPr/>
          <p:nvPr/>
        </p:nvSpPr>
        <p:spPr>
          <a:xfrm>
            <a:off x="4754880" y="3246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代码纠错 - AI智能诊断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57200" y="3611880"/>
            <a:ext cx="8229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0080" y="3685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技术实现亮点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14" name="Text 10"/>
          <p:cNvSpPr/>
          <p:nvPr/>
        </p:nvSpPr>
        <p:spPr>
          <a:xfrm>
            <a:off x="841248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三模型并发返回，响应时间实时标注对比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0" y="4023360"/>
            <a:ext cx="91440" cy="9144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16" name="Text 12"/>
          <p:cNvSpPr/>
          <p:nvPr/>
        </p:nvSpPr>
        <p:spPr>
          <a:xfrm>
            <a:off x="4956048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代码高亮 + 错误行标红，问题一目了然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40080" y="4370832"/>
            <a:ext cx="91440" cy="9144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18" name="Text 14"/>
          <p:cNvSpPr/>
          <p:nvPr/>
        </p:nvSpPr>
        <p:spPr>
          <a:xfrm>
            <a:off x="841248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AI诊断卡片：Bug编号、行号、修复建议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754880" y="4370832"/>
            <a:ext cx="91440" cy="91440"/>
          </a:xfrm>
          <a:prstGeom prst="ellipse">
            <a:avLst/>
          </a:prstGeom>
          <a:solidFill>
            <a:srgbClr val="9B8EC4"/>
          </a:solidFill>
          <a:ln/>
        </p:spPr>
      </p:sp>
      <p:sp>
        <p:nvSpPr>
          <p:cNvPr id="20" name="Text 16"/>
          <p:cNvSpPr/>
          <p:nvPr/>
        </p:nvSpPr>
        <p:spPr>
          <a:xfrm>
            <a:off x="4956048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本地沙箱执行(Python/C/Java)，10秒超时保护</a:t>
            </a:r>
            <a:endParaRPr lang="en-US" sz="85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C9918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安全与工程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9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ENGINEERING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2286000" cy="228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安全机制 · 工程质量 · 部署方案 · 开源协议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828800" cy="1828800"/>
          </a:xfrm>
          <a:prstGeom prst="ellipse">
            <a:avLst/>
          </a:prstGeom>
          <a:solidFill>
            <a:srgbClr val="C9918A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安全机制全景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22/25</a:t>
            </a:r>
            <a:endParaRPr lang="en-US" sz="700" dirty="0"/>
          </a:p>
        </p:txBody>
      </p:sp>
      <p:pic>
        <p:nvPicPr>
          <p:cNvPr id="6" name="Image 0" descr="ppt_assets/security_900x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32004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0" y="914400"/>
            <a:ext cx="48463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0" y="10241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9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八层安全防护体系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0" y="1389888"/>
            <a:ext cx="45720" cy="5029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0" name="Text 7"/>
          <p:cNvSpPr/>
          <p:nvPr/>
        </p:nvSpPr>
        <p:spPr>
          <a:xfrm>
            <a:off x="4224528" y="13898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密码哈希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24528" y="16184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pbkdf2/scrypt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0" y="1389888"/>
            <a:ext cx="45720" cy="5029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6510528" y="13898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登录速率限制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10528" y="16184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5次/5分钟锁定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114800" y="2121408"/>
            <a:ext cx="45720" cy="502920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16" name="Text 13"/>
          <p:cNvSpPr/>
          <p:nvPr/>
        </p:nvSpPr>
        <p:spPr>
          <a:xfrm>
            <a:off x="4224528" y="2121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文件双重校验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24528" y="23500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扩展名+MIME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00800" y="2121408"/>
            <a:ext cx="45720" cy="5029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Text 16"/>
          <p:cNvSpPr/>
          <p:nvPr/>
        </p:nvSpPr>
        <p:spPr>
          <a:xfrm>
            <a:off x="6510528" y="2121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路径遍历防护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0528" y="23500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阻止..访问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114800" y="2852928"/>
            <a:ext cx="45720" cy="502920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22" name="Text 19"/>
          <p:cNvSpPr/>
          <p:nvPr/>
        </p:nvSpPr>
        <p:spPr>
          <a:xfrm>
            <a:off x="4224528" y="2852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内容安全过滤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224528" y="30815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safety_filter()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400800" y="2852928"/>
            <a:ext cx="45720" cy="50292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25" name="Text 22"/>
          <p:cNvSpPr/>
          <p:nvPr/>
        </p:nvSpPr>
        <p:spPr>
          <a:xfrm>
            <a:off x="6510528" y="2852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防幻觉处理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510528" y="30815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anti_hallucination()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114800" y="3584448"/>
            <a:ext cx="45720" cy="502920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28" name="Text 25"/>
          <p:cNvSpPr/>
          <p:nvPr/>
        </p:nvSpPr>
        <p:spPr>
          <a:xfrm>
            <a:off x="4224528" y="3584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99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代码执行沙箱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224528" y="3813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子进程+超时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400800" y="3584448"/>
            <a:ext cx="45720" cy="502920"/>
          </a:xfrm>
          <a:prstGeom prst="rect">
            <a:avLst/>
          </a:prstGeom>
          <a:solidFill>
            <a:srgbClr val="B0AEA5"/>
          </a:solidFill>
          <a:ln/>
        </p:spPr>
      </p:sp>
      <p:sp>
        <p:nvSpPr>
          <p:cNvPr id="31" name="Text 28"/>
          <p:cNvSpPr/>
          <p:nvPr/>
        </p:nvSpPr>
        <p:spPr>
          <a:xfrm>
            <a:off x="6510528" y="3584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Token认证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510528" y="3813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管理员24h</a:t>
            </a:r>
            <a:endParaRPr lang="en-US" sz="8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工程质量与部署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23/25</a:t>
            </a:r>
            <a:endParaRPr lang="en-US" sz="700" dirty="0"/>
          </a:p>
        </p:txBody>
      </p:sp>
      <p:pic>
        <p:nvPicPr>
          <p:cNvPr id="6" name="Image 0" descr="ppt_assets/tech_stack_15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02920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914400"/>
            <a:ext cx="32918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工程规范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1371600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0" name="Text 7"/>
          <p:cNvSpPr/>
          <p:nvPr/>
        </p:nvSpPr>
        <p:spPr>
          <a:xfrm>
            <a:off x="5833872" y="13350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MIT开源协议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0" y="1609344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2" name="Text 9"/>
          <p:cNvSpPr/>
          <p:nvPr/>
        </p:nvSpPr>
        <p:spPr>
          <a:xfrm>
            <a:off x="5833872" y="1572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THIRD-PARTY-NOTICES声明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0" y="1847088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4" name="Text 11"/>
          <p:cNvSpPr/>
          <p:nvPr/>
        </p:nvSpPr>
        <p:spPr>
          <a:xfrm>
            <a:off x="5833872" y="18105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环境变量 .env 配置管理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2084832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6" name="Text 13"/>
          <p:cNvSpPr/>
          <p:nvPr/>
        </p:nvSpPr>
        <p:spPr>
          <a:xfrm>
            <a:off x="5833872" y="20482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SQLite自动建表初始化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0" y="2322576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8" name="Text 15"/>
          <p:cNvSpPr/>
          <p:nvPr/>
        </p:nvSpPr>
        <p:spPr>
          <a:xfrm>
            <a:off x="5833872" y="2286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Markdown教材同步工具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69280" y="2560320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0" name="Text 17"/>
          <p:cNvSpPr/>
          <p:nvPr/>
        </p:nvSpPr>
        <p:spPr>
          <a:xfrm>
            <a:off x="5833872" y="2523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Serverless部署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69280" y="2798064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2" name="Text 19"/>
          <p:cNvSpPr/>
          <p:nvPr/>
        </p:nvSpPr>
        <p:spPr>
          <a:xfrm>
            <a:off x="5833872" y="27614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API超时保护机制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0" y="3035808"/>
            <a:ext cx="82296" cy="82296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4" name="Text 21"/>
          <p:cNvSpPr/>
          <p:nvPr/>
        </p:nvSpPr>
        <p:spPr>
          <a:xfrm>
            <a:off x="5833872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错误脱敏响应处理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0080" y="3639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部署架构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" y="39776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023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本地开发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2296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dev server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3.8+ / SQLite3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566160" y="39776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0" y="4023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生产部署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65760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Serverless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-&gt; Functions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CDN全球加速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400800" y="39776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8E6DC"/>
          </a:solidFill>
          <a:ln w="6350">
            <a:solidFill>
              <a:srgbClr val="B0AEA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4023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外部服务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49224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讯飞星火API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讯飞MaaS平台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Bilibili / JDoodle</a:t>
            </a:r>
            <a:endParaRPr lang="en-US" sz="8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API端点总览 (59个)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22860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24/25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560320" cy="38404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60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AI对话服务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6070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060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4630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/api/chat, /api/chat/stream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/api/group_chat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/api/agent_collaborate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/api/translate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/api/learning_path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/api/flashcards, /api/code_examples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560320" cy="384048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1060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课程与资源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06070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060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1568" y="14630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/api/courses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/api/chapters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/api/questions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/api/search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/api/search_videos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560320" cy="384048"/>
          </a:xfrm>
          <a:prstGeom prst="rect">
            <a:avLst/>
          </a:prstGeom>
          <a:solidFill>
            <a:srgbClr val="9B8EC4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1060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用户系统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06070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1060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36208" y="14630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/api/register, /api/login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/api/user/profile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/api/user/chat_history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/api/user/profile_data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/api/reset-password, /api/upload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2560320" cy="384048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072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管理员后台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307238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46888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928" y="3474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/api/admin/stats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/api/admin/dashboard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/api/admin/logs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/api/admin/batch/*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/api/message/*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91840" y="30175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3017520"/>
            <a:ext cx="2560320" cy="384048"/>
          </a:xfrm>
          <a:prstGeom prst="rect">
            <a:avLst/>
          </a:prstGeom>
          <a:solidFill>
            <a:srgbClr val="89CFF0"/>
          </a:solidFill>
          <a:ln/>
        </p:spPr>
      </p:sp>
      <p:sp>
        <p:nvSpPr>
          <p:cNvPr id="32" name="Text 30"/>
          <p:cNvSpPr/>
          <p:nvPr/>
        </p:nvSpPr>
        <p:spPr>
          <a:xfrm>
            <a:off x="3401568" y="3072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代码与测试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307238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9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01568" y="3474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/api/run_code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/api/question/complete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/api/leaderboard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/api/upload_documents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26480" y="30175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017520"/>
            <a:ext cx="2560320" cy="384048"/>
          </a:xfrm>
          <a:prstGeom prst="rect">
            <a:avLst/>
          </a:prstGeom>
          <a:solidFill>
            <a:srgbClr val="C9918A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3072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安全与基础设施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38160" y="307238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36208" y="3474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/api/send-verify-code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/api/admin/login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/api/tmp_images/*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6B69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速率限制 / 内容过滤</a:t>
            </a:r>
            <a:endParaRPr lang="en-US" sz="70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45720" cy="2286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31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灵析 Lingxi AI  |  智能个性化学习辅助系统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286000" cy="182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v3.1 安全加固版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514600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468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多智能体协同 —— 首创三Agent流水线学习方案生成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" y="2862072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8163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三模型并发 —— 讯飞星火+混元Turbo+Qwen3对比解题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3209544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163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全栈AI原生 —— 20K+行前端+5K+行后端+59个API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97280" y="3557016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51129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开源可部署 —— MIT协议，Vercel一键部署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4114800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6A9BCC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114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https://lingxi-jhyc.vercel.app/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2286000"/>
            <a:ext cx="1371600" cy="13716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7960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25/25</a:t>
            </a:r>
            <a:endParaRPr lang="en-US" sz="7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灵析Lingxi AI - 智能个性化学习辅助系统产品演示</dc:title>
  <dc:subject>PptxGenJS Presentation</dc:subject>
  <dc:creator>Lingxi Team</dc:creator>
  <cp:lastModifiedBy>Lingxi Team</cp:lastModifiedBy>
  <cp:revision>1</cp:revision>
  <dcterms:created xsi:type="dcterms:W3CDTF">2026-07-19T04:32:47Z</dcterms:created>
  <dcterms:modified xsi:type="dcterms:W3CDTF">2026-07-19T04:32:47Z</dcterms:modified>
</cp:coreProperties>
</file>